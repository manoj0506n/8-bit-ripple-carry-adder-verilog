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8288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VLSI
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325880"/>
            <a:ext cx="8138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2646"/>
                </a:solidFill>
              </a:rPr>
              <a:t>Design and Synthesis of an
8-bit Ripple Carry Adder</a:t>
            </a:r>
          </a:p>
          <a:p>
            <a:pPr>
              <a:spcBef>
                <a:spcPts val="1800"/>
              </a:spcBef>
            </a:pPr>
            <a:r>
              <a:rPr sz="2100">
                <a:solidFill>
                  <a:srgbClr val="2D5FA0"/>
                </a:solidFill>
              </a:rPr>
              <a:t>Using Verilog HDL and Yosys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3977639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RTL Design • Functional Simulation • Logic Synthesis</a:t>
            </a:r>
          </a:p>
          <a:p>
            <a:pPr>
              <a:spcAft>
                <a:spcPts val="800"/>
              </a:spcAft>
              <a:defRPr sz="1600">
                <a:solidFill>
                  <a:srgbClr val="232A34"/>
                </a:solidFill>
              </a:defRPr>
            </a:pPr>
            <a:r>
              <a:t>Tools: EDA Playground, Icarus Verilog, EPWave, Yosys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Project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An 8-bit Ripple Carry Adder adds two 8-bit binary numbers with an input carry.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The design is constructed from eight 1-bit Full Adders connected in cascade.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The carry output of each stage becomes the carry input of the next stage.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The project demonstrates a basic RTL-to-gate-level VLSI design flow.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Functional verification was performed using Icarus Verilog and EPWave.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RTL synthesis was performed using Yosys 0.37.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49240"/>
            <a:ext cx="10241280" cy="658368"/>
          </a:xfrm>
          <a:prstGeom prst="roundRect">
            <a:avLst/>
          </a:prstGeom>
          <a:solidFill>
            <a:srgbClr val="F2F6FB"/>
          </a:solidFill>
          <a:ln>
            <a:solidFill>
              <a:srgbClr val="BEC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513832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1">
                <a:solidFill>
                  <a:srgbClr val="142646"/>
                </a:solidFill>
              </a:rPr>
              <a:t>A[7:0], B[7:0], Cin  →  8 Full Adders  →  Sum[7:0], Cout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Design Flow and Synthesis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D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0759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2646"/>
                </a:solidFill>
              </a:rPr>
              <a:t>RTL</a:t>
            </a:r>
          </a:p>
          <a:p>
            <a:pPr algn="ctr"/>
            <a:r>
              <a:rPr sz="1200">
                <a:solidFill>
                  <a:srgbClr val="232A34"/>
                </a:solidFill>
              </a:rPr>
              <a:t>Verilog design</a:t>
            </a:r>
          </a:p>
        </p:txBody>
      </p:sp>
      <p:sp>
        <p:nvSpPr>
          <p:cNvPr id="7" name="Chevron 6"/>
          <p:cNvSpPr/>
          <p:nvPr/>
        </p:nvSpPr>
        <p:spPr>
          <a:xfrm>
            <a:off x="2880360" y="1481328"/>
            <a:ext cx="411480" cy="411480"/>
          </a:xfrm>
          <a:prstGeom prst="chevron">
            <a:avLst/>
          </a:prstGeom>
          <a:solidFill>
            <a:srgbClr val="009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11430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D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30759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2646"/>
                </a:solidFill>
              </a:rPr>
              <a:t>Simulation</a:t>
            </a:r>
          </a:p>
          <a:p>
            <a:pPr algn="ctr"/>
            <a:r>
              <a:rPr sz="1200">
                <a:solidFill>
                  <a:srgbClr val="232A34"/>
                </a:solidFill>
              </a:rPr>
              <a:t>Icarus + EPWave</a:t>
            </a:r>
          </a:p>
        </p:txBody>
      </p:sp>
      <p:sp>
        <p:nvSpPr>
          <p:cNvPr id="10" name="Chevron 9"/>
          <p:cNvSpPr/>
          <p:nvPr/>
        </p:nvSpPr>
        <p:spPr>
          <a:xfrm>
            <a:off x="5715000" y="1481328"/>
            <a:ext cx="411480" cy="411480"/>
          </a:xfrm>
          <a:prstGeom prst="chevron">
            <a:avLst/>
          </a:prstGeom>
          <a:solidFill>
            <a:srgbClr val="009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1430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D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2646"/>
                </a:solidFill>
              </a:rPr>
              <a:t>Synthesis</a:t>
            </a:r>
          </a:p>
          <a:p>
            <a:pPr algn="ctr"/>
            <a:r>
              <a:rPr sz="1200">
                <a:solidFill>
                  <a:srgbClr val="232A34"/>
                </a:solidFill>
              </a:rPr>
              <a:t>Yosys 0.37</a:t>
            </a:r>
          </a:p>
        </p:txBody>
      </p:sp>
      <p:sp>
        <p:nvSpPr>
          <p:cNvPr id="13" name="Chevron 12"/>
          <p:cNvSpPr/>
          <p:nvPr/>
        </p:nvSpPr>
        <p:spPr>
          <a:xfrm>
            <a:off x="8549640" y="1481328"/>
            <a:ext cx="411480" cy="411480"/>
          </a:xfrm>
          <a:prstGeom prst="chevron">
            <a:avLst/>
          </a:prstGeom>
          <a:solidFill>
            <a:srgbClr val="009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98280" y="1143000"/>
            <a:ext cx="2240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D5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307592"/>
            <a:ext cx="1965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2646"/>
                </a:solidFill>
              </a:rPr>
              <a:t>Gate Level</a:t>
            </a:r>
          </a:p>
          <a:p>
            <a:pPr algn="ctr"/>
            <a:r>
              <a:rPr sz="1200">
                <a:solidFill>
                  <a:srgbClr val="232A34"/>
                </a:solidFill>
              </a:rPr>
              <a:t>Netlist +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5029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646"/>
                </a:solidFill>
              </a:rPr>
              <a:t>Synthesis Results</a:t>
            </a:r>
          </a:p>
          <a:p>
            <a:pPr>
              <a:spcAft>
                <a:spcPts val="600"/>
              </a:spcAft>
              <a:defRPr sz="1800">
                <a:solidFill>
                  <a:srgbClr val="232A34"/>
                </a:solidFill>
              </a:defRPr>
            </a:pPr>
            <a:r>
              <a:t>Full Adders: 8</a:t>
            </a:r>
          </a:p>
          <a:p>
            <a:pPr>
              <a:spcAft>
                <a:spcPts val="600"/>
              </a:spcAft>
              <a:defRPr sz="1800">
                <a:solidFill>
                  <a:srgbClr val="232A34"/>
                </a:solidFill>
              </a:defRPr>
            </a:pPr>
            <a:r>
              <a:t>AND cells: 24</a:t>
            </a:r>
          </a:p>
          <a:p>
            <a:pPr>
              <a:spcAft>
                <a:spcPts val="600"/>
              </a:spcAft>
              <a:defRPr sz="1800">
                <a:solidFill>
                  <a:srgbClr val="232A34"/>
                </a:solidFill>
              </a:defRPr>
            </a:pPr>
            <a:r>
              <a:t>OR cells: 16</a:t>
            </a:r>
          </a:p>
          <a:p>
            <a:pPr>
              <a:spcAft>
                <a:spcPts val="600"/>
              </a:spcAft>
              <a:defRPr sz="1800">
                <a:solidFill>
                  <a:srgbClr val="232A34"/>
                </a:solidFill>
              </a:defRPr>
            </a:pPr>
            <a:r>
              <a:t>XOR cells: 16</a:t>
            </a:r>
          </a:p>
          <a:p>
            <a:pPr>
              <a:spcAft>
                <a:spcPts val="600"/>
              </a:spcAft>
              <a:defRPr sz="1800">
                <a:solidFill>
                  <a:srgbClr val="232A34"/>
                </a:solidFill>
              </a:defRPr>
            </a:pPr>
            <a:r>
              <a:t>Total logic cells: 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880360"/>
            <a:ext cx="49377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646"/>
                </a:solidFill>
              </a:rPr>
              <a:t>Verification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6 input combinations tested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Sum and Cout matched expected results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EPWave waveform generated successfully</a:t>
            </a:r>
          </a:p>
          <a:p>
            <a:pPr>
              <a:spcAft>
                <a:spcPts val="800"/>
              </a:spcAft>
              <a:defRPr sz="1700">
                <a:solidFill>
                  <a:srgbClr val="232A34"/>
                </a:solidFill>
              </a:defRPr>
            </a:pPr>
            <a:r>
              <a:t>• Synthesized gate-level Verilog generated successfully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Simulation Output – EPWave</a:t>
            </a:r>
          </a:p>
        </p:txBody>
      </p:sp>
      <p:pic>
        <p:nvPicPr>
          <p:cNvPr id="5" name="Picture 4" descr="Screenshot 2026-08-18 215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303" y="841248"/>
            <a:ext cx="8705088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3620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A34"/>
                </a:solidFill>
              </a:rPr>
              <a:t>Simulation waveform showing A, B, Cin, Carry, Sum and Cout.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Synthesis Output – Yosys</a:t>
            </a:r>
          </a:p>
        </p:txBody>
      </p:sp>
      <p:pic>
        <p:nvPicPr>
          <p:cNvPr id="5" name="Picture 4" descr="Screenshot 2026-08-18 2329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303" y="841248"/>
            <a:ext cx="8705088" cy="5440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3620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A34"/>
                </a:solidFill>
              </a:rPr>
              <a:t>Yosys synthesis statistics: 24 AND + 16 OR + 16 XOR = 56 logic cells.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A34"/>
                </a:solidFill>
              </a:defRPr>
            </a:pPr>
            <a:r>
              <a:t>• Yosys Open Synthesis Suite – https://yosyshq.net/yosys/</a:t>
            </a:r>
          </a:p>
          <a:p>
            <a:pPr>
              <a:spcAft>
                <a:spcPts val="900"/>
              </a:spcAft>
              <a:defRPr sz="1800">
                <a:solidFill>
                  <a:srgbClr val="232A34"/>
                </a:solidFill>
              </a:defRPr>
            </a:pPr>
            <a:r>
              <a:t>• EDA Playground – https://www.edaplayground.com/</a:t>
            </a:r>
          </a:p>
          <a:p>
            <a:pPr>
              <a:spcAft>
                <a:spcPts val="900"/>
              </a:spcAft>
              <a:defRPr sz="1800">
                <a:solidFill>
                  <a:srgbClr val="232A34"/>
                </a:solidFill>
              </a:defRPr>
            </a:pPr>
            <a:r>
              <a:t>• Icarus Verilog – https://steveicarus.github.io/iverilog/</a:t>
            </a:r>
          </a:p>
          <a:p>
            <a:pPr>
              <a:spcAft>
                <a:spcPts val="900"/>
              </a:spcAft>
              <a:defRPr sz="1800">
                <a:solidFill>
                  <a:srgbClr val="232A34"/>
                </a:solidFill>
              </a:defRPr>
            </a:pPr>
            <a:r>
              <a:t>• EPWave – waveform viewer available through EDA Playground</a:t>
            </a:r>
          </a:p>
          <a:p>
            <a:pPr>
              <a:spcAft>
                <a:spcPts val="900"/>
              </a:spcAft>
              <a:defRPr sz="1800">
                <a:solidFill>
                  <a:srgbClr val="232A34"/>
                </a:solidFill>
              </a:defRPr>
            </a:pPr>
            <a:r>
              <a:t>• Digital Logic Design references for Full Adders and Ripple Carry Adders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The 8-bit Ripple Carry Adder was successfully designed using Verilog HDL.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Functional simulation verified the correctness of Sum and Cout for multiple test cases.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EPWave was used to analyze the simulation waveform.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Yosys successfully synthesized the RTL and generated a gate-level representation.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The final synthesized design contains 56 basic logic cells: 24 AND, 16 OR and 16 XOR.</a:t>
            </a:r>
          </a:p>
          <a:p>
            <a:pPr>
              <a:spcAft>
                <a:spcPts val="900"/>
              </a:spcAft>
              <a:defRPr sz="1900">
                <a:solidFill>
                  <a:srgbClr val="232A34"/>
                </a:solidFill>
              </a:defRPr>
            </a:pPr>
            <a:r>
              <a:t>• The project demonstrates a complete introductory RTL-to-gate-level VLSI flow using free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5532120"/>
            <a:ext cx="8138160" cy="594360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5669280"/>
            <a:ext cx="79552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5562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E7887"/>
                </a:solidFill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